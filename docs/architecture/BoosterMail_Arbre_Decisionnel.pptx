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BoosterMail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i="1">
                <a:solidFill>
                  <a:srgbClr val="E7E8D1"/>
                </a:solidFill>
                <a:latin typeface="Calibri"/>
              </a:rPr>
              <a:t>Architecture du flux de traitement des 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i="1">
                <a:solidFill>
                  <a:srgbClr val="F5F5EC"/>
                </a:solidFill>
                <a:latin typeface="Calibri"/>
              </a:rPr>
              <a:t>Arbre décisionnel · règles de classement · gestion des frigos &amp;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5F5EC"/>
                </a:solidFill>
                <a:latin typeface="Calibri"/>
              </a:rPr>
              <a:t>Version validée 08/05/2026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Vue d'ensemble · Le mail entre en cuisine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Du livreur Microsoft jusqu'aux 5 frigos de livraison — métaphore cuisine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17320"/>
            <a:ext cx="2103120" cy="457200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📧  Mail arrive (livreur Microsoft)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892807"/>
            <a:ext cx="0" cy="301753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194560"/>
            <a:ext cx="3931920" cy="457200"/>
          </a:xfrm>
          <a:prstGeom prst="round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3931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📦  Stockage brut (toujours fait)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670048"/>
            <a:ext cx="0" cy="301752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971800"/>
            <a:ext cx="3931920" cy="457200"/>
          </a:xfrm>
          <a:prstGeom prst="round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3931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👤  Création/MAJ contact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447288"/>
            <a:ext cx="0" cy="301751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3749039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749039"/>
            <a:ext cx="3931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B85042"/>
                </a:solidFill>
                <a:latin typeface="Calibri"/>
              </a:rPr>
              <a:t>🚦  FILTRE 1 — écarter 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45920" y="4251960"/>
            <a:ext cx="2926080" cy="6858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937760"/>
            <a:ext cx="2286000" cy="640080"/>
          </a:xfrm>
          <a:prstGeom prst="round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22860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❌ ÉCARTÉ</a:t>
            </a:r>
          </a:p>
          <a:p>
            <a:pPr algn="ctr"/>
            <a:r>
              <a:rPr sz="900" b="0" i="0">
                <a:solidFill>
                  <a:srgbClr val="F5F5EC"/>
                </a:solidFill>
                <a:latin typeface="Calibri"/>
              </a:rPr>
              <a:t>Frigo brut seulement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0" y="4251960"/>
            <a:ext cx="0" cy="36576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4617720"/>
            <a:ext cx="3657600" cy="548640"/>
          </a:xfrm>
          <a:prstGeom prst="roundRect">
            <a:avLst/>
          </a:prstGeom>
          <a:solidFill>
            <a:srgbClr val="E7E8D1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4617720"/>
            <a:ext cx="36576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36454F"/>
                </a:solidFill>
                <a:latin typeface="Calibri"/>
              </a:rPr>
              <a:t>🧪  Collecte blocs ABC + Filtre 2 (VIP ?)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572000" y="5166360"/>
            <a:ext cx="1828800" cy="4572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5166360"/>
            <a:ext cx="1737360" cy="4572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00400" y="5623560"/>
            <a:ext cx="3017520" cy="640080"/>
          </a:xfrm>
          <a:prstGeom prst="roundRect">
            <a:avLst/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623560"/>
            <a:ext cx="30175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🍳 PARTIEL (Haiku seul)</a:t>
            </a:r>
          </a:p>
          <a:p>
            <a:pPr algn="ctr"/>
            <a:r>
              <a:rPr sz="800" b="0" i="0">
                <a:solidFill>
                  <a:srgbClr val="F5F5EC"/>
                </a:solidFill>
                <a:latin typeface="Calibri"/>
              </a:rPr>
              <a:t>3 plats : résumé, classement mail, classement PJ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623560"/>
            <a:ext cx="3017520" cy="640080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623560"/>
            <a:ext cx="30175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🌟 VIP (Sonnet + Haiku)</a:t>
            </a:r>
          </a:p>
          <a:p>
            <a:pPr algn="ctr"/>
            <a:r>
              <a:rPr sz="800" b="0" i="0">
                <a:solidFill>
                  <a:srgbClr val="F5F5EC"/>
                </a:solidFill>
                <a:latin typeface="Calibri"/>
              </a:rPr>
              <a:t>5 plats : Body Sonnet + 4 frigos Haiku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Calibri"/>
              </a:rPr>
              <a:t>+ écarté = cuisine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
  à la commande au clic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2 filtres en détail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videur trie d'abord les déchets, puis distingue les VIP des partiels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🚦 FILTRE 1 — écarter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Écarté si AU MOINS UNE condition est vraie 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Expéditeur automatique (no-reply, newsletter, postmaster, mailer-daemon)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3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3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Mail de plus de 30 jours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9475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5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Mail déjà répondu par toi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9767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7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Body de moins de 10 caractères sans point d'interrogation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→ Conséquence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Aucun plat préparé à l'avance. Seul le mail brut va au frigo principal.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Si l'utilisateur clique → cuisine à la commande en streaming (3-8 sec).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🌟 FILTRE 2 — VIP ou partiel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24028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VIP si TOUTES ces conditions sont vraies :</a:t>
            </a:r>
          </a:p>
        </p:txBody>
      </p:sp>
      <p:sp>
        <p:nvSpPr>
          <p:cNvPr id="21" name="Oval 20"/>
          <p:cNvSpPr/>
          <p:nvPr/>
        </p:nvSpPr>
        <p:spPr>
          <a:xfrm>
            <a:off x="6428232" y="2788920"/>
            <a:ext cx="320040" cy="32004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788920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Contact connu (profil enrichi présent en base)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3291839"/>
            <a:ext cx="320040" cy="32004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29183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Tu es destinataire principal (TO), pas seulement en copie (CC)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8404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B85042"/>
                </a:solidFill>
                <a:latin typeface="Calibri"/>
              </a:rPr>
              <a:t>Sinon → le mail bascule en mode PARTIEL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572000"/>
            <a:ext cx="512064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6B8E7E"/>
                </a:solidFill>
                <a:latin typeface="Calibri"/>
              </a:rPr>
              <a:t>→ 2 conséquences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VIP : pré-cuisson complète Sonnet + Haiku unifié → 5 frigos remplis dès la réception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PARTIEL : pré-cuisson Haiku unifié seulement → 3 frigos remplis (résumé, classement mail, classement PJ)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3 branches &amp; leurs plats préparés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Pour chaque mail, ce qui est mis au frigo dépend de quelle branche il prend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594360"/>
          </a:xfrm>
          <a:prstGeom prst="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❌ ÉCARTÉ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C04B4B"/>
                </a:solidFill>
                <a:latin typeface="Calibri"/>
              </a:rPr>
              <a:t>Filtre 1 = OUI (déchet)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: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4B4B"/>
                </a:solidFill>
                <a:latin typeface="Calibri"/>
              </a:rPr>
              <a:t>AUCUN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36454F"/>
                </a:solidFill>
                <a:latin typeface="Calibri"/>
              </a:rPr>
              <a:t>Comportement à la commande :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Répondre → streaming Sonnet (5-8 sec)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Classer → cuisson Haiku (2-3 sec)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Résumé → cuisson Haiku (1-2 sec)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9CA3AF"/>
                </a:solidFill>
                <a:latin typeface="Calibri"/>
              </a:rPr>
              <a:t>Coût : $0 à la réception, payé seulement si le user clique.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6576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🍳 PARTIEL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B85042"/>
                </a:solidFill>
                <a:latin typeface="Calibri"/>
              </a:rPr>
              <a:t>Filtre 1 = NON, Filtre 2 = 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(Haiku unifié) :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📋  Résumé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📁  Classement Mail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📎  Classement PJ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100" b="0" i="1">
                <a:solidFill>
                  <a:srgbClr val="9CA3AF"/>
                </a:solidFill>
                <a:latin typeface="Calibri"/>
              </a:rPr>
              <a:t>Pas de Body Sonnet,</a:t>
            </a:r>
          </a:p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pas d'Échéance pré-cuisinée.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B85042"/>
                </a:solidFill>
                <a:latin typeface="Calibri"/>
              </a:rPr>
              <a:t>Coût : ~$0.002 / mail (Haiku)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554480"/>
            <a:ext cx="365760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🌟 VIP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6B8E7E"/>
                </a:solidFill>
                <a:latin typeface="Calibri"/>
              </a:rPr>
              <a:t>Filtre 1 = NON, Filtre 2 = 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(cascade Sonnet + Haiku) :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🥘  Body Sonnet (réponse + analyse PJ + blocs ABC)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📋  Résumé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📁  Classement Mail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📎  Classement PJ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📅  Échéance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6B8E7E"/>
                </a:solidFill>
                <a:latin typeface="Calibri"/>
              </a:rPr>
              <a:t>Coût : ~$0.005 (Sonnet) + ~$0.002 (Haiku)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5 frigos &amp; règles de nettoyage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Une porte par frigo, livraison instantanée quand le client commande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" cy="77724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Réponse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Body Sonnet (avec analyse PJ + blocs ABC)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6B8E7E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répondu, classé ou supprimé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Résumé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Points principaux + actions attendues (Haiku)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60604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supprimé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91839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59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83279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Classement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0332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Suggestion top 1 + 2 alternatives (Haiku unifié)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47472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classé ou supprimé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51959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Classement PJ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720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Suggestion dossier Windows + alternatives (Haiku)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34340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classé ou supprimé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37160" cy="77724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02920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2064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Échéance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44068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Date + description si engagement détecté (VIP only)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6B8E7E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Purge auto : 30j après validation, 60j pending orphelin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alibri"/>
              </a:rPr>
              <a:t>Mémoire vive (RAM) : 24h pour les frigos courts. Mémoire longue (DB) : tant que le mail existe dans l'inbox.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Règles de classement du mail · 7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maître d'hôtel descend la liste et prend la première règle qui dit oui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Même 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0136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Tu as déjà classé un mail avec ce contact + ce sujet (Re:/Fw: enlevés)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60020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Dossier habituel du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Ce contact a 3+ mails classés tous au même endroit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0312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Contact + mots de l'objet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0720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Mots de l'objet (puis corps, puis nom PJ) matchent un classement passé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06039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Nom de dossier dans le 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1012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Le sujet/corps contient le nom d'un de tes dossiers (≥4 chars, mot complet)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0896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58444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Règle de domaine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1304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3+ contacts du même domaine classent au même endroit (gmail/hotmail exclus)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61188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8736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Sujet cross-contact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1596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3+ contacts différents écrivent sur le même sujet, classés au même endroit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11480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9028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Momentum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1888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Tu viens de classer dans X dans les 2 dernières heures → propose le même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61772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9320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IA Haiku (dernier recours)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2180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Le commis lit le mail + ton arbre + propose un top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2064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B85042"/>
                </a:solidFill>
                <a:latin typeface="Calibri"/>
              </a:rPr>
              <a:t>~$0.002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 i="1">
                <a:solidFill>
                  <a:srgbClr val="B85042"/>
                </a:solidFill>
                <a:latin typeface="Calibri"/>
              </a:rPr>
              <a:t>Règle d'or — Les règles spécifiques (1, 2, 3, 4) priment toujours sur les règles générales (5, 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Calibri"/>
              </a:rPr>
              <a:t>À l'écran : top 1 (gros bandeau bleu) + 2 alternatives en boulettes ● cliquables + barre de recherche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Règles de classement PJ · 2 différences vs 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Mêmes 7 tiers, sauf pour les règles 1 et 3 — le reste est identique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Règle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379476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Pour le 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554480"/>
            <a:ext cx="379476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Pour la PJ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7432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Premier critère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23160"/>
            <a:ext cx="365760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Même fil : ce contact + ce sujet déjà classé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2743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23160"/>
            <a:ext cx="361188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Cohérence mail→PJ : si le mail va dans X, cherche un dossier Windows correspondant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657600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7432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Mot-clé prioritaire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86200"/>
            <a:ext cx="365760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Mots de l'objet du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14800"/>
            <a:ext cx="2743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86200"/>
            <a:ext cx="361188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Nom du fichier (puis sujet, puis corps)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 i="1">
                <a:solidFill>
                  <a:srgbClr val="6B8E7E"/>
                </a:solidFill>
                <a:latin typeface="Calibri"/>
              </a:rPr>
              <a:t>Règles 2, 4, 5, 6, 7, 8 : strictement identiques au pipeline mail.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Gestion des contacts · création &amp; purge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Un carnet d'adresses interne enrichi progressivement, nettoyé sans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➕ Création progressive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91440" cy="114300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A7BEAE"/>
                </a:solidFill>
                <a:latin typeface="Calibri"/>
              </a:rPr>
              <a:t>Squelette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79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Dès le 1er mail échangé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7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email + display_name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91440" cy="114300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6B8E7E"/>
                </a:solidFill>
                <a:latin typeface="Calibri"/>
              </a:rPr>
              <a:t>Profil enrichi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2 mails reçus OU 1 envoyé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15968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catégorie, registre tu/vous, signature personnalisée, vocabulaire, niveau de confiance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8348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91440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Re-analyse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Quand le ratio mails échangés / sample_count atteint un seuil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41848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Tous les champs rafraîchis (cooldown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🧹 Purge automatique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331720"/>
            <a:ext cx="5212080" cy="914400"/>
          </a:xfrm>
          <a:prstGeom prst="round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502920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Critère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Aucun mail (envoyé OU reçu) avec ce contact depuis 24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521208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Ce qui est purgé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 enrichi (catégorie, registre, signature, vocabulaire)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6B8E7E"/>
                </a:solidFill>
                <a:latin typeface="Calibri"/>
              </a:rPr>
              <a:t>Ce qui est conservé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Squelette (email + display_name)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Historique des classifications passées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Profils marqués manuellement édités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37760"/>
            <a:ext cx="5212080" cy="1325880"/>
          </a:xfrm>
          <a:prstGeom prst="roundRect">
            <a:avLst/>
          </a:prstGeom>
          <a:solidFill>
            <a:srgbClr val="F5F5EC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02920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6B8E7E"/>
                </a:solidFill>
                <a:latin typeface="Calibri"/>
              </a:rPr>
              <a:t>Si le contact réapparaît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Squelette recréé via la règle 2 reçus / 1 envoyé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Les règles 1, 2, 3 du classement fonctionnent toujours (historique préservé)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 enrichi régénéré au 1er envoi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Comportement à l'usage · 3 commandes du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ressenti utilisateur dépend uniquement de ce qui est déjà au frigo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39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RÉPONDRE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194560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9456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(300 ms) — 5 frigos pleins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487168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487168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87168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3 frigos pleins (résumé/classement Mail/PJ) → instantané. Body et Échéance → streaming SSE 3-5 sec.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779776"/>
            <a:ext cx="914400" cy="256032"/>
          </a:xfrm>
          <a:prstGeom prst="round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779776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79776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Streaming complet (5-8 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27832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27832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64992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CLASSER RAPIDE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867912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867912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867912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— frigo classement plein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4160520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16052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16052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— frigo classement plein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4453128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453128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53128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Cuisson à la commande (1 appel Haiku, 2-3 sec)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01184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01184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92624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038344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VOIR RÉSUMÉ / ÉCHÉANCE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5541264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5541264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5541264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5833872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833872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833872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pour résumé. Échéance non pré-cuisinée (scope V1 = sortants only).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6126480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612648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612648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Cuisson à la commande (1-2 sec)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