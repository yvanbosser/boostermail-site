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7E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BoosterMail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i="1">
                <a:solidFill>
                  <a:srgbClr val="E7E8D1"/>
                </a:solidFill>
                <a:latin typeface="Calibri"/>
              </a:rPr>
              <a:t>Architecture du flux de traitement des mails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i="1">
                <a:solidFill>
                  <a:srgbClr val="F5F5EC"/>
                </a:solidFill>
                <a:latin typeface="Calibri"/>
              </a:rPr>
              <a:t>Arbre décisionnel · règles de classement · gestion des frigos &amp; contacts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F5F5EC"/>
                </a:solidFill>
                <a:latin typeface="Calibri"/>
              </a:rPr>
              <a:t>Version validée 08/05/2026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3200" b="1">
                <a:solidFill>
                  <a:srgbClr val="B85042"/>
                </a:solidFill>
                <a:latin typeface="Calibri"/>
              </a:rPr>
              <a:t>Vue d'ensemble · Le mail entre en cuisine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i="1">
                <a:solidFill>
                  <a:srgbClr val="9CA3AF"/>
                </a:solidFill>
                <a:latin typeface="Calibri"/>
              </a:rPr>
              <a:t>Du livreur Microsoft jusqu'aux 5 frigos de livraison — métaphore cuisine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417320"/>
            <a:ext cx="2103120" cy="457200"/>
          </a:xfrm>
          <a:prstGeom prst="round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417320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📧  Mail arrive (livreur Microsoft)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1892807"/>
            <a:ext cx="0" cy="301753"/>
          </a:xfrm>
          <a:prstGeom prst="line">
            <a:avLst/>
          </a:prstGeom>
          <a:ln w="25400">
            <a:solidFill>
              <a:srgbClr val="3645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0" y="2194560"/>
            <a:ext cx="3931920" cy="457200"/>
          </a:xfrm>
          <a:prstGeom prst="roundRect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2194560"/>
            <a:ext cx="39319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📦  Stockage brut (toujours fait)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670048"/>
            <a:ext cx="0" cy="301752"/>
          </a:xfrm>
          <a:prstGeom prst="line">
            <a:avLst/>
          </a:prstGeom>
          <a:ln w="25400">
            <a:solidFill>
              <a:srgbClr val="3645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0" y="2971800"/>
            <a:ext cx="3931920" cy="457200"/>
          </a:xfrm>
          <a:prstGeom prst="roundRect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971800"/>
            <a:ext cx="39319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👤  Création/MAJ contact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3447288"/>
            <a:ext cx="0" cy="301751"/>
          </a:xfrm>
          <a:prstGeom prst="line">
            <a:avLst/>
          </a:prstGeom>
          <a:ln w="25400">
            <a:solidFill>
              <a:srgbClr val="3645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14800" y="3749039"/>
            <a:ext cx="39319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3749039"/>
            <a:ext cx="393192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 i="0">
                <a:solidFill>
                  <a:srgbClr val="B85042"/>
                </a:solidFill>
                <a:latin typeface="Calibri"/>
              </a:rPr>
              <a:t>🚦  FILTRE 1 — écarter ?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645920" y="4251960"/>
            <a:ext cx="2926080" cy="685800"/>
          </a:xfrm>
          <a:prstGeom prst="line">
            <a:avLst/>
          </a:prstGeom>
          <a:ln w="19050">
            <a:solidFill>
              <a:srgbClr val="3645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" y="4937760"/>
            <a:ext cx="2286000" cy="640080"/>
          </a:xfrm>
          <a:prstGeom prst="roundRect">
            <a:avLst/>
          </a:prstGeom>
          <a:solidFill>
            <a:srgbClr val="C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228600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❌ ÉCARTÉ</a:t>
            </a:r>
          </a:p>
          <a:p>
            <a:pPr algn="ctr"/>
            <a:r>
              <a:rPr sz="900" b="0" i="0">
                <a:solidFill>
                  <a:srgbClr val="F5F5EC"/>
                </a:solidFill>
                <a:latin typeface="Calibri"/>
              </a:rPr>
              <a:t>Frigo brut seulement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89520" y="4251960"/>
            <a:ext cx="0" cy="365760"/>
          </a:xfrm>
          <a:prstGeom prst="line">
            <a:avLst/>
          </a:prstGeom>
          <a:ln w="19050">
            <a:solidFill>
              <a:srgbClr val="3645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760720" y="4617720"/>
            <a:ext cx="3657600" cy="548640"/>
          </a:xfrm>
          <a:prstGeom prst="roundRect">
            <a:avLst/>
          </a:prstGeom>
          <a:solidFill>
            <a:srgbClr val="E7E8D1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4617720"/>
            <a:ext cx="365760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36454F"/>
                </a:solidFill>
                <a:latin typeface="Calibri"/>
              </a:rPr>
              <a:t>🧪  Collecte blocs ABC + Filtre 2 (VIP ?)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572000" y="5166360"/>
            <a:ext cx="1828800" cy="457200"/>
          </a:xfrm>
          <a:prstGeom prst="line">
            <a:avLst/>
          </a:prstGeom>
          <a:ln w="19050">
            <a:solidFill>
              <a:srgbClr val="3645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778240" y="5166360"/>
            <a:ext cx="1737360" cy="457200"/>
          </a:xfrm>
          <a:prstGeom prst="line">
            <a:avLst/>
          </a:prstGeom>
          <a:ln w="19050">
            <a:solidFill>
              <a:srgbClr val="3645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200400" y="5623560"/>
            <a:ext cx="3017520" cy="640080"/>
          </a:xfrm>
          <a:prstGeom prst="roundRect">
            <a:avLst/>
          </a:prstGeom>
          <a:solidFill>
            <a:srgbClr val="D48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5623560"/>
            <a:ext cx="301752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🍳 PARTIEL (Haiku seul)</a:t>
            </a:r>
          </a:p>
          <a:p>
            <a:pPr algn="ctr"/>
            <a:r>
              <a:rPr sz="800" b="0" i="0">
                <a:solidFill>
                  <a:srgbClr val="F5F5EC"/>
                </a:solidFill>
                <a:latin typeface="Calibri"/>
              </a:rPr>
              <a:t>3 plats : résumé, classement mail, classement PJ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5623560"/>
            <a:ext cx="3017520" cy="640080"/>
          </a:xfrm>
          <a:prstGeom prst="round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5623560"/>
            <a:ext cx="301752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🌟 VIP (Sonnet + Haiku)</a:t>
            </a:r>
          </a:p>
          <a:p>
            <a:pPr algn="ctr"/>
            <a:r>
              <a:rPr sz="800" b="0" i="0">
                <a:solidFill>
                  <a:srgbClr val="F5F5EC"/>
                </a:solidFill>
                <a:latin typeface="Calibri"/>
              </a:rPr>
              <a:t>5 plats : Body Sonnet + 4 frigos Haiku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126480"/>
            <a:ext cx="2286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800" b="0" i="1">
                <a:solidFill>
                  <a:srgbClr val="9CA3AF"/>
                </a:solidFill>
                <a:latin typeface="Calibri"/>
              </a:rPr>
              <a:t>+ écarté = cuisine</a:t>
            </a:r>
            <a:r>
              <a:rPr sz="800" b="0" i="1">
                <a:solidFill>
                  <a:srgbClr val="9CA3AF"/>
                </a:solidFill>
                <a:latin typeface="Calibri"/>
              </a:rPr>
              <a:t>
  à la commande au clic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CA3AF"/>
                </a:solidFill>
              </a:rPr>
              <a:t>BoosterMail · 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3200" b="1">
                <a:solidFill>
                  <a:srgbClr val="B85042"/>
                </a:solidFill>
                <a:latin typeface="Calibri"/>
              </a:rPr>
              <a:t>Les 2 filtres en détail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i="1">
                <a:solidFill>
                  <a:srgbClr val="9CA3AF"/>
                </a:solidFill>
                <a:latin typeface="Calibri"/>
              </a:rPr>
              <a:t>Le videur trie d'abord les déchets, puis distingue les VIP des partiels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486400" cy="59436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  🚦 FILTRE 1 — écarter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206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 i="1">
                <a:solidFill>
                  <a:srgbClr val="36454F"/>
                </a:solidFill>
                <a:latin typeface="Calibri"/>
              </a:rPr>
              <a:t>Écarté si AU MOINS UNE condition est vraie :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88920"/>
            <a:ext cx="320040" cy="3200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475488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Expéditeur automatique (no-reply, newsletter, postmaster, mailer-daemon)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91839"/>
            <a:ext cx="320040" cy="3200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39"/>
            <a:ext cx="475488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Mail de plus de 30 jours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794759"/>
            <a:ext cx="320040" cy="3200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94759"/>
            <a:ext cx="475488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Mail déjà répondu par toi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297679"/>
            <a:ext cx="320040" cy="3200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97679"/>
            <a:ext cx="475488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Body de moins de 10 caractères sans point d'interrogation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5120640" cy="1188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→ Conséquence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Aucun plat préparé à l'avance. Seul le mail brut va au frigo principal.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Si l'utilisateur clique → cuisine à la commande en streaming (3-8 sec).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554480"/>
            <a:ext cx="54864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8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2" y="1554480"/>
            <a:ext cx="5486400" cy="594360"/>
          </a:xfrm>
          <a:prstGeom prst="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1554480"/>
            <a:ext cx="54864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  🌟 FILTRE 2 — VIP ou partiel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240280"/>
            <a:ext cx="51206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 i="1">
                <a:solidFill>
                  <a:srgbClr val="36454F"/>
                </a:solidFill>
                <a:latin typeface="Calibri"/>
              </a:rPr>
              <a:t>VIP si TOUTES ces conditions sont vraies :</a:t>
            </a:r>
          </a:p>
        </p:txBody>
      </p:sp>
      <p:sp>
        <p:nvSpPr>
          <p:cNvPr id="21" name="Oval 20"/>
          <p:cNvSpPr/>
          <p:nvPr/>
        </p:nvSpPr>
        <p:spPr>
          <a:xfrm>
            <a:off x="6428232" y="2788920"/>
            <a:ext cx="320040" cy="320040"/>
          </a:xfrm>
          <a:prstGeom prst="ellipse">
            <a:avLst/>
          </a:prstGeom>
          <a:solidFill>
            <a:srgbClr val="6B8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2788920"/>
            <a:ext cx="475488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Contact connu (profil enrichi présent en base)</a:t>
            </a:r>
          </a:p>
        </p:txBody>
      </p:sp>
      <p:sp>
        <p:nvSpPr>
          <p:cNvPr id="23" name="Oval 22"/>
          <p:cNvSpPr/>
          <p:nvPr/>
        </p:nvSpPr>
        <p:spPr>
          <a:xfrm>
            <a:off x="6428232" y="3291839"/>
            <a:ext cx="320040" cy="320040"/>
          </a:xfrm>
          <a:prstGeom prst="ellipse">
            <a:avLst/>
          </a:prstGeom>
          <a:solidFill>
            <a:srgbClr val="6B8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3291839"/>
            <a:ext cx="475488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Tu es destinataire principal (TO), pas seulement en copie (CC)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840480"/>
            <a:ext cx="51206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 i="1">
                <a:solidFill>
                  <a:srgbClr val="B85042"/>
                </a:solidFill>
                <a:latin typeface="Calibri"/>
              </a:rPr>
              <a:t>Sinon → le mail bascule en mode PARTIEL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4572000"/>
            <a:ext cx="5120640" cy="1737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 i="0">
                <a:solidFill>
                  <a:srgbClr val="6B8E7E"/>
                </a:solidFill>
                <a:latin typeface="Calibri"/>
              </a:rPr>
              <a:t>→ 2 conséquences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VIP : pré-cuisson complète Sonnet + Haiku unifié → 5 frigos remplis dès la réception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PARTIEL : pré-cuisson Haiku unifié seulement → 3 frigos remplis (résumé, classement mail, classement PJ)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CA3AF"/>
                </a:solidFill>
              </a:rPr>
              <a:t>BoosterMail · 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3200" b="1">
                <a:solidFill>
                  <a:srgbClr val="B85042"/>
                </a:solidFill>
                <a:latin typeface="Calibri"/>
              </a:rPr>
              <a:t>Les 3 branches &amp; leurs plats préparés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i="1">
                <a:solidFill>
                  <a:srgbClr val="9CA3AF"/>
                </a:solidFill>
                <a:latin typeface="Calibri"/>
              </a:rPr>
              <a:t>Pour chaque mail, ce qui est mis au frigo dépend de quelle branche il prend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6576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57600" cy="594360"/>
          </a:xfrm>
          <a:prstGeom prst="rect">
            <a:avLst/>
          </a:prstGeom>
          <a:solidFill>
            <a:srgbClr val="C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6576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  ❌ ÉCARTÉ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918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C04B4B"/>
                </a:solidFill>
                <a:latin typeface="Calibri"/>
              </a:rPr>
              <a:t>Filtre 1 = OUI (déchet)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3291840" cy="3657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 i="0">
                <a:solidFill>
                  <a:srgbClr val="36454F"/>
                </a:solidFill>
                <a:latin typeface="Calibri"/>
              </a:rPr>
              <a:t>Plats préparés :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C04B4B"/>
                </a:solidFill>
                <a:latin typeface="Calibri"/>
              </a:rPr>
              <a:t>AUCUN</a:t>
            </a:r>
          </a:p>
          <a:p>
            <a:pPr algn="l"/>
            <a:r>
              <a:rPr sz="6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36454F"/>
                </a:solidFill>
                <a:latin typeface="Calibri"/>
              </a:rPr>
              <a:t>Comportement à la commande :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Répondre → streaming Sonnet (5-8 sec)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Classer → cuisson Haiku (2-3 sec)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Résumé → cuisson Haiku (1-2 sec)</a:t>
            </a:r>
          </a:p>
          <a:p>
            <a:pPr algn="l"/>
            <a:r>
              <a:rPr sz="6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>
              <a:spcBef>
                <a:spcPts val="1200"/>
              </a:spcBef>
            </a:pPr>
            <a:r>
              <a:rPr sz="1000" b="0" i="1">
                <a:solidFill>
                  <a:srgbClr val="9CA3AF"/>
                </a:solidFill>
                <a:latin typeface="Calibri"/>
              </a:rPr>
              <a:t>Coût : $0 à la réception, payé seulement si le user clique.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554480"/>
            <a:ext cx="36576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0248" y="1554480"/>
            <a:ext cx="3657600" cy="59436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1554480"/>
            <a:ext cx="36576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  🍳 PARTIEL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2286000"/>
            <a:ext cx="32918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B85042"/>
                </a:solidFill>
                <a:latin typeface="Calibri"/>
              </a:rPr>
              <a:t>Filtre 1 = NON, Filtre 2 = NON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743200"/>
            <a:ext cx="3291840" cy="3657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 i="0">
                <a:solidFill>
                  <a:srgbClr val="36454F"/>
                </a:solidFill>
                <a:latin typeface="Calibri"/>
              </a:rPr>
              <a:t>Plats préparés (Haiku unifié) :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📋  Résumé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📁  Classement Mail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📎  Classement PJ</a:t>
            </a:r>
          </a:p>
          <a:p>
            <a:pPr algn="l"/>
            <a:r>
              <a:rPr sz="6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100" b="0" i="1">
                <a:solidFill>
                  <a:srgbClr val="9CA3AF"/>
                </a:solidFill>
                <a:latin typeface="Calibri"/>
              </a:rPr>
              <a:t>Pas de Body Sonnet,</a:t>
            </a:r>
          </a:p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pas d'Échéance pré-cuisinée.</a:t>
            </a:r>
          </a:p>
          <a:p>
            <a:pPr algn="l"/>
            <a:r>
              <a:rPr sz="6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>
              <a:spcBef>
                <a:spcPts val="1200"/>
              </a:spcBef>
            </a:pPr>
            <a:r>
              <a:rPr sz="1000" b="0" i="1">
                <a:solidFill>
                  <a:srgbClr val="B85042"/>
                </a:solidFill>
                <a:latin typeface="Calibri"/>
              </a:rPr>
              <a:t>Coût : ~$0.002 / mail (Haiku)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1554480"/>
            <a:ext cx="36576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8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4152" y="1554480"/>
            <a:ext cx="3657600" cy="594360"/>
          </a:xfrm>
          <a:prstGeom prst="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1554480"/>
            <a:ext cx="36576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  🌟 VIP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286000"/>
            <a:ext cx="32918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6B8E7E"/>
                </a:solidFill>
                <a:latin typeface="Calibri"/>
              </a:rPr>
              <a:t>Filtre 1 = NON, Filtre 2 = OUI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743200"/>
            <a:ext cx="3291840" cy="3657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 i="0">
                <a:solidFill>
                  <a:srgbClr val="36454F"/>
                </a:solidFill>
                <a:latin typeface="Calibri"/>
              </a:rPr>
              <a:t>Plats préparés (cascade Sonnet + Haiku) :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🥘  Body Sonnet (réponse + analyse PJ + blocs ABC)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📋  Résumé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📁  Classement Mail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📎  Classement PJ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📅  Échéance</a:t>
            </a:r>
          </a:p>
          <a:p>
            <a:pPr algn="l"/>
            <a:r>
              <a:rPr sz="6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>
              <a:spcBef>
                <a:spcPts val="1200"/>
              </a:spcBef>
            </a:pPr>
            <a:r>
              <a:rPr sz="1000" b="0" i="1">
                <a:solidFill>
                  <a:srgbClr val="6B8E7E"/>
                </a:solidFill>
                <a:latin typeface="Calibri"/>
              </a:rPr>
              <a:t>Coût : ~$0.005 (Sonnet) + ~$0.002 (Haiku)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CA3AF"/>
                </a:solidFill>
              </a:rPr>
              <a:t>BoosterMail · 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3200" b="1">
                <a:solidFill>
                  <a:srgbClr val="B85042"/>
                </a:solidFill>
                <a:latin typeface="Calibri"/>
              </a:rPr>
              <a:t>Les 5 frigos &amp; règles de nettoyage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i="1">
                <a:solidFill>
                  <a:srgbClr val="9CA3AF"/>
                </a:solidFill>
                <a:latin typeface="Calibri"/>
              </a:rPr>
              <a:t>Une porte par frigo, livraison instantanée quand le client commande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37160" cy="777240"/>
          </a:xfrm>
          <a:prstGeom prst="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1155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64008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0" i="0">
                <a:solidFill>
                  <a:srgbClr val="36454F"/>
                </a:solidFill>
                <a:latin typeface="Calibri"/>
              </a:rPr>
              <a:t>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45920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Frigo Réponse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6596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Body Sonnet (avec analyse PJ + blocs ABC)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737360"/>
            <a:ext cx="4572000" cy="502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1" i="0">
                <a:solidFill>
                  <a:srgbClr val="6B8E7E"/>
                </a:solidFill>
                <a:latin typeface="Calibri"/>
              </a:rPr>
              <a:t>🧹 Nettoyage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Vidé quand mail répondu, classé ou supprimé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137160" cy="77724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23160"/>
            <a:ext cx="11155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68879"/>
            <a:ext cx="64008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0" i="0">
                <a:solidFill>
                  <a:srgbClr val="36454F"/>
                </a:solidFill>
                <a:latin typeface="Calibr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14600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Frigo Résumé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3464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Points principaux + actions attendues (Haiku)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606040"/>
            <a:ext cx="4572000" cy="502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1" i="0">
                <a:solidFill>
                  <a:srgbClr val="B85042"/>
                </a:solidFill>
                <a:latin typeface="Calibri"/>
              </a:rPr>
              <a:t>🧹 Nettoyage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Vidé quand mail supprimé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39"/>
            <a:ext cx="137160" cy="77724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291839"/>
            <a:ext cx="11155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37559"/>
            <a:ext cx="64008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0" i="0">
                <a:solidFill>
                  <a:srgbClr val="36454F"/>
                </a:solidFill>
                <a:latin typeface="Calibri"/>
              </a:rPr>
              <a:t>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383279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Frigo Classement 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70332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Suggestion top 1 + 2 alternatives (Haiku unifié)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474720"/>
            <a:ext cx="4572000" cy="502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1" i="0">
                <a:solidFill>
                  <a:srgbClr val="B85042"/>
                </a:solidFill>
                <a:latin typeface="Calibri"/>
              </a:rPr>
              <a:t>🧹 Nettoyage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Vidé quand mail classé ou supprimé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60520"/>
            <a:ext cx="137160" cy="77724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160520"/>
            <a:ext cx="11155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06240"/>
            <a:ext cx="64008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0" i="0">
                <a:solidFill>
                  <a:srgbClr val="36454F"/>
                </a:solidFill>
                <a:latin typeface="Calibri"/>
              </a:rPr>
              <a:t>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51959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Frigo Classement PJ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57200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Suggestion dossier Windows + alternatives (Haiku)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343400"/>
            <a:ext cx="4572000" cy="502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1" i="0">
                <a:solidFill>
                  <a:srgbClr val="B85042"/>
                </a:solidFill>
                <a:latin typeface="Calibri"/>
              </a:rPr>
              <a:t>🧹 Nettoyage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Vidé quand mail classé ou supprimé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137160" cy="777240"/>
          </a:xfrm>
          <a:prstGeom prst="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5029200"/>
            <a:ext cx="11155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074920"/>
            <a:ext cx="64008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0" i="0">
                <a:solidFill>
                  <a:srgbClr val="36454F"/>
                </a:solidFill>
                <a:latin typeface="Calibri"/>
              </a:rPr>
              <a:t>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120640"/>
            <a:ext cx="3200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Frigo Échéance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44068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Date + description si engagement détecté (VIP only)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212080"/>
            <a:ext cx="4572000" cy="502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1" i="0">
                <a:solidFill>
                  <a:srgbClr val="6B8E7E"/>
                </a:solidFill>
                <a:latin typeface="Calibri"/>
              </a:rPr>
              <a:t>🧹 Nettoyage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Purge auto : 30j après validation, 60j pending orphelin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Calibri"/>
              </a:rPr>
              <a:t>Mémoire vive (RAM) : 24h pour les frigos courts. Mémoire longue (DB) : tant que le mail existe dans l'inbox.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CA3AF"/>
                </a:solidFill>
              </a:rPr>
              <a:t>BoosterMail · 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3200" b="1">
                <a:solidFill>
                  <a:srgbClr val="B85042"/>
                </a:solidFill>
                <a:latin typeface="Calibri"/>
              </a:rPr>
              <a:t>Règles de classement du mail · 7 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i="1">
                <a:solidFill>
                  <a:srgbClr val="9CA3AF"/>
                </a:solidFill>
                <a:latin typeface="Calibri"/>
              </a:rPr>
              <a:t>Le maître d'hôtel descend la liste et prend la première règle qui dit oui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72768"/>
            <a:ext cx="8503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Même fil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01368"/>
            <a:ext cx="85039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Tu as déjà classé un mail avec ce contact + ce sujet (Re:/Fw: enlevés)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600200"/>
            <a:ext cx="16459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100" b="1" i="0">
                <a:solidFill>
                  <a:srgbClr val="6B8E7E"/>
                </a:solidFill>
                <a:latin typeface="Calibri"/>
              </a:rPr>
              <a:t>$0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75688"/>
            <a:ext cx="8503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Dossier habituel du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04288"/>
            <a:ext cx="85039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Ce contact a 3+ mails classés tous au même endroit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103120"/>
            <a:ext cx="16459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100" b="1" i="0">
                <a:solidFill>
                  <a:srgbClr val="6B8E7E"/>
                </a:solidFill>
                <a:latin typeface="Calibri"/>
              </a:rPr>
              <a:t>$0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56032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78608"/>
            <a:ext cx="8503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Contact + mots de l'objet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07208"/>
            <a:ext cx="85039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Mots de l'objet (puis du corps en fallback) matchent un classement passé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06039"/>
            <a:ext cx="16459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100" b="1" i="0">
                <a:solidFill>
                  <a:srgbClr val="6B8E7E"/>
                </a:solidFill>
                <a:latin typeface="Calibri"/>
              </a:rPr>
              <a:t>$0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8503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Nom de dossier dans le 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10128"/>
            <a:ext cx="85039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Le sujet/corps contient le nom d'un de tes dossiers (≥4 chars, mot complet)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108960"/>
            <a:ext cx="16459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100" b="1" i="0">
                <a:solidFill>
                  <a:srgbClr val="6B8E7E"/>
                </a:solidFill>
                <a:latin typeface="Calibri"/>
              </a:rPr>
              <a:t>$0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584448"/>
            <a:ext cx="8503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Règle de domaine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13048"/>
            <a:ext cx="85039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3+ contacts du même domaine classent au même endroit (gmail/hotmail exclus)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611880"/>
            <a:ext cx="16459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100" b="1" i="0">
                <a:solidFill>
                  <a:srgbClr val="6B8E7E"/>
                </a:solidFill>
                <a:latin typeface="Calibri"/>
              </a:rPr>
              <a:t>$0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406908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087368"/>
            <a:ext cx="8503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Sujet cross-contact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315968"/>
            <a:ext cx="85039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3+ contacts différents écrivent sur le même sujet, classés au même endroit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114800"/>
            <a:ext cx="16459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100" b="1" i="0">
                <a:solidFill>
                  <a:srgbClr val="6B8E7E"/>
                </a:solidFill>
                <a:latin typeface="Calibri"/>
              </a:rPr>
              <a:t>$0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457200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590288"/>
            <a:ext cx="8503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Momentum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818888"/>
            <a:ext cx="85039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Tu viens de classer dans X dans les 2 dernières heures → propose le même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4617720"/>
            <a:ext cx="16459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100" b="1" i="0">
                <a:solidFill>
                  <a:srgbClr val="6B8E7E"/>
                </a:solidFill>
                <a:latin typeface="Calibri"/>
              </a:rPr>
              <a:t>$0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5074920"/>
            <a:ext cx="365760" cy="365760"/>
          </a:xfrm>
          <a:prstGeom prst="ellipse">
            <a:avLst/>
          </a:prstGeom>
          <a:solidFill>
            <a:srgbClr val="6B8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93208"/>
            <a:ext cx="85039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IA Haiku (dernier recours)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321808"/>
            <a:ext cx="850392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Le commis lit le mail + ton arbre + propose un top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5120640"/>
            <a:ext cx="16459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100" b="1" i="0">
                <a:solidFill>
                  <a:srgbClr val="B85042"/>
                </a:solidFill>
                <a:latin typeface="Calibri"/>
              </a:rPr>
              <a:t>~$0.002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1" i="1">
                <a:solidFill>
                  <a:srgbClr val="B85042"/>
                </a:solidFill>
                <a:latin typeface="Calibri"/>
              </a:rPr>
              <a:t>Règle d'or — Les règles spécifiques (1, 2, 3, 4) priment toujours sur les règles générales (5, 6).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  <a:latin typeface="Calibri"/>
              </a:rPr>
              <a:t>À l'écran : top 1 (gros bandeau bleu) + 2 alternatives en boulettes ● cliquables + barre de recherche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CA3AF"/>
                </a:solidFill>
              </a:rPr>
              <a:t>BoosterMail · 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3200" b="1">
                <a:solidFill>
                  <a:srgbClr val="B85042"/>
                </a:solidFill>
                <a:latin typeface="Calibri"/>
              </a:rPr>
              <a:t>Règles de classement PJ · 2 différences vs Mail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i="1">
                <a:solidFill>
                  <a:srgbClr val="9CA3AF"/>
                </a:solidFill>
                <a:latin typeface="Calibri"/>
              </a:rPr>
              <a:t>Mêmes 7 tiers, sauf pour les règles 1 et 3 — le reste est identique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  Règle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554480"/>
            <a:ext cx="379476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Pour le 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554480"/>
            <a:ext cx="379476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Pour la PJ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12471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3657600" cy="1371600"/>
          </a:xfrm>
          <a:prstGeom prst="rect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60320"/>
            <a:ext cx="274320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Premier critère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423160"/>
            <a:ext cx="3657600" cy="9144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Même fil : ce contact + ce sujet déjà classé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51760"/>
            <a:ext cx="2743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 i="0">
                <a:solidFill>
                  <a:srgbClr val="B85042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423160"/>
            <a:ext cx="3611880" cy="9144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1" i="0">
                <a:solidFill>
                  <a:srgbClr val="36454F"/>
                </a:solidFill>
                <a:latin typeface="Calibri"/>
              </a:rPr>
              <a:t>Cohérence mail→PJ : si le mail va dans X, cherche un dossier Windows correspondant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112471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3657600" cy="1371600"/>
          </a:xfrm>
          <a:prstGeom prst="rect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23360"/>
            <a:ext cx="274320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300" b="1" i="0">
                <a:solidFill>
                  <a:srgbClr val="36454F"/>
                </a:solidFill>
                <a:latin typeface="Calibri"/>
              </a:rPr>
              <a:t>Mot-clé prioritaire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886200"/>
            <a:ext cx="3657600" cy="9144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Mots de l'objet du 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114800"/>
            <a:ext cx="2743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 i="0">
                <a:solidFill>
                  <a:srgbClr val="B85042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886200"/>
            <a:ext cx="3611880" cy="9144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1" i="0">
                <a:solidFill>
                  <a:srgbClr val="36454F"/>
                </a:solidFill>
                <a:latin typeface="Calibri"/>
              </a:rPr>
              <a:t>Nom du fichier (puis sujet, puis corps)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49240"/>
            <a:ext cx="1124712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 i="1">
                <a:solidFill>
                  <a:srgbClr val="6B8E7E"/>
                </a:solidFill>
                <a:latin typeface="Calibri"/>
              </a:rPr>
              <a:t>Règles 2, 4, 5, 6, 7, 8 : strictement identiques au pipeline mail.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CA3AF"/>
                </a:solidFill>
              </a:rPr>
              <a:t>BoosterMail · 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3200" b="1">
                <a:solidFill>
                  <a:srgbClr val="B85042"/>
                </a:solidFill>
                <a:latin typeface="Calibri"/>
              </a:rPr>
              <a:t>Gestion des contacts · création &amp; purge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i="1">
                <a:solidFill>
                  <a:srgbClr val="9CA3AF"/>
                </a:solidFill>
                <a:latin typeface="Calibri"/>
              </a:rPr>
              <a:t>Un carnet d'adresses interne enrichi progressivement, nettoyé sans intervention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577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8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77840" cy="594360"/>
          </a:xfrm>
          <a:prstGeom prst="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57784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  ➕ Création progressive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5212080" cy="1143000"/>
          </a:xfrm>
          <a:prstGeom prst="rect">
            <a:avLst/>
          </a:prstGeom>
          <a:solidFill>
            <a:srgbClr val="F5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91440" cy="1143000"/>
          </a:xfrm>
          <a:prstGeom prst="rect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04872"/>
            <a:ext cx="49377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A7BEAE"/>
                </a:solidFill>
                <a:latin typeface="Calibri"/>
              </a:rPr>
              <a:t>Squelette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79"/>
            <a:ext cx="493776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36454F"/>
                </a:solidFill>
                <a:latin typeface="Calibri"/>
              </a:rPr>
              <a:t>Dès le 1er mail échangé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90087"/>
            <a:ext cx="493776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email + display_name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57600"/>
            <a:ext cx="5212080" cy="1143000"/>
          </a:xfrm>
          <a:prstGeom prst="rect">
            <a:avLst/>
          </a:prstGeom>
          <a:solidFill>
            <a:srgbClr val="F5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657600"/>
            <a:ext cx="91440" cy="1143000"/>
          </a:xfrm>
          <a:prstGeom prst="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30752"/>
            <a:ext cx="49377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6B8E7E"/>
                </a:solidFill>
                <a:latin typeface="Calibri"/>
              </a:rPr>
              <a:t>Profil enrichi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493776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36454F"/>
                </a:solidFill>
                <a:latin typeface="Calibri"/>
              </a:rPr>
              <a:t>2 mails reçus OU 1 envoyé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15968"/>
            <a:ext cx="493776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catégorie, registre tu/vous, signature personnalisée, vocabulaire, niveau de confiance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83480"/>
            <a:ext cx="5212080" cy="1143000"/>
          </a:xfrm>
          <a:prstGeom prst="rect">
            <a:avLst/>
          </a:prstGeom>
          <a:solidFill>
            <a:srgbClr val="F5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983480"/>
            <a:ext cx="91440" cy="1143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56632"/>
            <a:ext cx="49377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Re-analyse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49240"/>
            <a:ext cx="493776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1">
                <a:solidFill>
                  <a:srgbClr val="36454F"/>
                </a:solidFill>
                <a:latin typeface="Calibri"/>
              </a:rPr>
              <a:t>Quand le ratio mails échangés / sample_count atteint un seuil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41848"/>
            <a:ext cx="493776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Tous les champs rafraîchis (cooldown 24h)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1554480"/>
            <a:ext cx="54864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5352" y="1554480"/>
            <a:ext cx="5486400" cy="59436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1554480"/>
            <a:ext cx="54864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  🧹 Purge automatique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331720"/>
            <a:ext cx="5212080" cy="914400"/>
          </a:xfrm>
          <a:prstGeom prst="roundRect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377440"/>
            <a:ext cx="502920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Critère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36454F"/>
                </a:solidFill>
                <a:latin typeface="Calibri"/>
              </a:rPr>
              <a:t>Aucun mail (envoyé OU reçu) avec ce contact depuis 24 mois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83280"/>
            <a:ext cx="5212080" cy="12801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Ce qui est purgé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Profil enrichi (catégorie, registre, signature, vocabulaire)</a:t>
            </a:r>
          </a:p>
          <a:p>
            <a:pPr algn="l"/>
            <a:r>
              <a:rPr sz="6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100" b="1" i="0">
                <a:solidFill>
                  <a:srgbClr val="6B8E7E"/>
                </a:solidFill>
                <a:latin typeface="Calibri"/>
              </a:rPr>
              <a:t>Ce qui est conservé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Squelette (email + display_name)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Historique des classifications passées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Profils marqués manuellement édités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937760"/>
            <a:ext cx="5212080" cy="1325880"/>
          </a:xfrm>
          <a:prstGeom prst="roundRect">
            <a:avLst/>
          </a:prstGeom>
          <a:solidFill>
            <a:srgbClr val="F5F5EC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029200"/>
            <a:ext cx="5029200" cy="1188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 i="0">
                <a:solidFill>
                  <a:srgbClr val="6B8E7E"/>
                </a:solidFill>
                <a:latin typeface="Calibri"/>
              </a:rPr>
              <a:t>Si le contact réapparaît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Squelette recréé via la règle 2 reçus / 1 envoyé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Les règles 1, 2, 3 du classement fonctionnent toujours (historique préservé)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6454F"/>
                </a:solidFill>
                <a:latin typeface="Calibri"/>
              </a:rPr>
              <a:t>• Profil enrichi régénéré au 1er envoi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CA3AF"/>
                </a:solidFill>
              </a:rPr>
              <a:t>BoosterMail · 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3200" b="1">
                <a:solidFill>
                  <a:srgbClr val="B85042"/>
                </a:solidFill>
                <a:latin typeface="Calibri"/>
              </a:rPr>
              <a:t>Comportement à l'usage · 3 commandes du 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i="1">
                <a:solidFill>
                  <a:srgbClr val="9CA3AF"/>
                </a:solidFill>
                <a:latin typeface="Calibri"/>
              </a:rPr>
              <a:t>Le ressenti utilisateur dépend uniquement de ce qui est déjà au frigo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1247120" cy="1554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37160" cy="1554480"/>
          </a:xfrm>
          <a:prstGeom prst="rect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64008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200" b="0" i="0">
                <a:solidFill>
                  <a:srgbClr val="36454F"/>
                </a:solidFill>
                <a:latin typeface="Calibri"/>
              </a:rPr>
              <a:t>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91639"/>
            <a:ext cx="27432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 i="0">
                <a:solidFill>
                  <a:srgbClr val="36454F"/>
                </a:solidFill>
                <a:latin typeface="Calibri"/>
              </a:rPr>
              <a:t>RÉPONDRE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194560"/>
            <a:ext cx="914400" cy="256032"/>
          </a:xfrm>
          <a:prstGeom prst="round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194560"/>
            <a:ext cx="9144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194560"/>
            <a:ext cx="905256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INSTANTANÉ (300 ms) — 5 frigos pleins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487168"/>
            <a:ext cx="914400" cy="256032"/>
          </a:xfrm>
          <a:prstGeom prst="round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487168"/>
            <a:ext cx="9144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PARTIEL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487168"/>
            <a:ext cx="905256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3 frigos pleins (résumé/classement Mail/PJ) → instantané. Body et Échéance → streaming SSE 3-5 sec.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2779776"/>
            <a:ext cx="914400" cy="256032"/>
          </a:xfrm>
          <a:prstGeom prst="roundRect">
            <a:avLst/>
          </a:prstGeom>
          <a:solidFill>
            <a:srgbClr val="C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2779776"/>
            <a:ext cx="9144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ÉCARTÉ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779776"/>
            <a:ext cx="905256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Streaming complet (5-8 sec)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27832"/>
            <a:ext cx="11247120" cy="1554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27832"/>
            <a:ext cx="137160" cy="1554480"/>
          </a:xfrm>
          <a:prstGeom prst="rect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19272"/>
            <a:ext cx="64008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200" b="0" i="0">
                <a:solidFill>
                  <a:srgbClr val="36454F"/>
                </a:solidFill>
                <a:latin typeface="Calibri"/>
              </a:rPr>
              <a:t>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364992"/>
            <a:ext cx="27432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 i="0">
                <a:solidFill>
                  <a:srgbClr val="36454F"/>
                </a:solidFill>
                <a:latin typeface="Calibri"/>
              </a:rPr>
              <a:t>CLASSER RAPIDE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3867912"/>
            <a:ext cx="914400" cy="256032"/>
          </a:xfrm>
          <a:prstGeom prst="round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3867912"/>
            <a:ext cx="9144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867912"/>
            <a:ext cx="905256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INSTANTANÉ — frigo classement plein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63040" y="4160520"/>
            <a:ext cx="914400" cy="256032"/>
          </a:xfrm>
          <a:prstGeom prst="round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4160520"/>
            <a:ext cx="9144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PARTIEL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160520"/>
            <a:ext cx="905256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INSTANTANÉ — frigo classement plein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63040" y="4453128"/>
            <a:ext cx="914400" cy="256032"/>
          </a:xfrm>
          <a:prstGeom prst="round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4453128"/>
            <a:ext cx="9144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ÉCARTÉ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453128"/>
            <a:ext cx="905256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Cuisson à la commande (1 appel Haiku, 2-3 sec)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01184"/>
            <a:ext cx="11247120" cy="1554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01184"/>
            <a:ext cx="137160" cy="1554480"/>
          </a:xfrm>
          <a:prstGeom prst="rect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992624"/>
            <a:ext cx="64008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200" b="0" i="0">
                <a:solidFill>
                  <a:srgbClr val="36454F"/>
                </a:solidFill>
                <a:latin typeface="Calibri"/>
              </a:rPr>
              <a:t>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038344"/>
            <a:ext cx="27432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 i="0">
                <a:solidFill>
                  <a:srgbClr val="36454F"/>
                </a:solidFill>
                <a:latin typeface="Calibri"/>
              </a:rPr>
              <a:t>VOIR RÉSUMÉ / ÉCHÉANCE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63040" y="5541264"/>
            <a:ext cx="914400" cy="256032"/>
          </a:xfrm>
          <a:prstGeom prst="round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63040" y="5541264"/>
            <a:ext cx="9144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5541264"/>
            <a:ext cx="905256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INSTANTANÉ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63040" y="5833872"/>
            <a:ext cx="914400" cy="256032"/>
          </a:xfrm>
          <a:prstGeom prst="round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63040" y="5833872"/>
            <a:ext cx="9144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PARTIEL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5833872"/>
            <a:ext cx="905256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Instantané pour résumé. Échéance non pré-cuisinée (scope V1 = sortants only).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63040" y="6126480"/>
            <a:ext cx="914400" cy="256032"/>
          </a:xfrm>
          <a:prstGeom prst="round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63040" y="6126480"/>
            <a:ext cx="9144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ÉCARTÉ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6126480"/>
            <a:ext cx="905256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Cuisson à la commande (1-2 sec)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CA3AF"/>
                </a:solidFill>
              </a:rPr>
              <a:t>BoosterMail · 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